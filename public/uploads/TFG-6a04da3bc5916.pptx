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Maven Pro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3A97C0-271D-42F4-919C-1A951A789AC3}">
  <a:tblStyle styleId="{6D3A97C0-271D-42F4-919C-1A951A789A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MavenPr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avenPr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7e2c6a3f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7e2c6a3f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7e2c6a3f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7e2c6a3f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7e2c6a3f6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7e2c6a3f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7e2c6a3f6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c7e2c6a3f6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7e2c6a3f6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c7e2c6a3f6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7e2c6a3f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7e2c6a3f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7e2c6a3f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7e2c6a3f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7e2c6a3f6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7e2c6a3f6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7ebc62e5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c7ebc62e5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571f53b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571f53b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571f53b3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571f53b3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7e2c6a3f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7e2c6a3f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hyperlink" Target="https://www.figma.com/design/BgBlLfaQDJJ8dPuRxUGrbm/Prototipo?m=auto&amp;t=VpCDResnZ9eT3ssy-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25"/>
            <a:ext cx="4765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Plataforma Web de Estudio Colaborativo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8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Fernando Lobera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Rubén García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/>
              <a:t>Eduardo Baltrons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Descripción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consiste en el diseño, desarrollo de una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Plataforma Web de Estudio Colaborativo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Esta herramienta tiene el objetivo de centralizar en un único entorno digital la gestión de grupos de trabajo académico, el intercambio de recursos didácticos y la comunicación fluida entre estudiantes.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plataforma permite a los usuarios registrarse y crear o unirse a "Salas de Estudio" categorizadas por asignaturas o temas de interés. Dentro de estos espacios, los integrantes disponen de herramientas para compartir apuntes y bibliografía de forma estructurada, así como canales de comunicación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534600"/>
            <a:ext cx="7030500" cy="29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Desarrollar una aplicación web escalable que fomente el aprendizaje colaborativo, proporcionando a los estudiantes un entorno virtual dedicado donde puedan organizar grupos de estudio, compartir conocimiento y comunicarse en tiempo real, mejorando así su rendimiento académico y reduciendo el aislamiento en el estudio remoto.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Objetivos Específicos: 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un sistema de autenticación seguro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 módulo de gestión de recursos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Integrar comunicación en tiempo real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-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una interfaz intuitiva y responsiva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Esquema General de Funcionamiento</a:t>
            </a:r>
            <a:endParaRPr/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00" y="1597875"/>
            <a:ext cx="7872500" cy="2890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Funcionalidades Principales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98000" y="1597875"/>
            <a:ext cx="2886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Gestión de Usuarios y Accesos: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e inicio de sesión seguro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Edición de perfil de usuario.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Recuperación de credenciales básica.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de roles (Administrador de la plataforma vs. Usuario estándar).</a:t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3084000" y="1597875"/>
            <a:ext cx="2886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Gestión de Grupos y Recursos: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Creación, edición y eliminación de grupos de estudio.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Búsqueda y filtrado de grupos por asignatura o nombre.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Subida y descarga de archivos.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Compartir enlaces externos de interés.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recursos por carpetas o etiquetas dentro del grupo.</a:t>
            </a:r>
            <a:endParaRPr/>
          </a:p>
        </p:txBody>
      </p:sp>
      <p:sp>
        <p:nvSpPr>
          <p:cNvPr id="304" name="Google Shape;304;p17"/>
          <p:cNvSpPr txBox="1"/>
          <p:nvPr>
            <p:ph idx="1" type="body"/>
          </p:nvPr>
        </p:nvSpPr>
        <p:spPr>
          <a:xfrm>
            <a:off x="5970000" y="1597875"/>
            <a:ext cx="28860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Comunicación y Tiempo Real: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 grupal integrado en cada sala de estudio.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Notificaciones en tiempo real (ej. "Nuevo mensaje en tu grupo", "Nuevo archivo subido").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Historial de mensajes persistente.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de eventos/sesiones.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de Competencia</a:t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1449450"/>
            <a:ext cx="7030500" cy="30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mercado existen herramientas consolidadas, aunque pocas combinan todas las funcionalidades específicas para estudiantes en una sola interfaz gratuita: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Discord: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Descripción: Plataforma de chat y voz muy popular entre jóvenes.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Comparativa: Aunque es excelente para la comunicación en tiempo real (ventaja), su gestión de archivos y "hilos" académicos es caótica y poco estructurada para el estudio serio (desventaja frente a nuestro proyecto).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Moodle / Blackboard: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Descripción: Plataformas institucionales usadas por universidades.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Comparativa: Son muy rígidas y centradas en la comunicación Profesor-Alumno. Nuestro proyecto fomenta la comunicación Alumno-Alumno, siendo más ágil y menos burocrática.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Notion: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i="1"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Descripción:</a:t>
            </a: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Herramienta de productividad y notas.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7973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i="1"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Comparativa:</a:t>
            </a: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compartir recursos de forma excelente, pero carece de chat en tiempo real integrado y funciones sociales dinámicas (descubrimiento de grupos).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Análisis DAFO</a:t>
            </a:r>
            <a:endParaRPr/>
          </a:p>
        </p:txBody>
      </p:sp>
      <p:graphicFrame>
        <p:nvGraphicFramePr>
          <p:cNvPr id="316" name="Google Shape;316;p19"/>
          <p:cNvGraphicFramePr/>
          <p:nvPr/>
        </p:nvGraphicFramePr>
        <p:xfrm>
          <a:off x="952500" y="14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{6D3A97C0-271D-42F4-919C-1A951A789AC3}</a:tableStyleId>
              </a:tblPr>
              <a:tblGrid>
                <a:gridCol w="3619500"/>
                <a:gridCol w="3619500"/>
              </a:tblGrid>
              <a:tr h="158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/>
                        <a:t>Debilidades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Dependencia de Masa Crítica </a:t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Limitación de Almacenamiento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/>
                        <a:t>Amenazas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Competencia Desleal</a:t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Seguridad y Copyright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/>
                        <a:t>Fortalezas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Tecnología de Vanguardia</a:t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Nicho Específico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/>
                        <a:t>Oportunidades</a:t>
                      </a:r>
                      <a:endParaRPr b="1" sz="18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Digitalización educativa</a:t>
                      </a:r>
                      <a:endParaRPr sz="1600"/>
                    </a:p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Char char="●"/>
                      </a:pPr>
                      <a:r>
                        <a:rPr lang="es" sz="1600"/>
                        <a:t>Escalabilidad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Marco Tecnológico</a:t>
            </a:r>
            <a:endParaRPr/>
          </a:p>
        </p:txBody>
      </p:sp>
      <p:sp>
        <p:nvSpPr>
          <p:cNvPr id="322" name="Google Shape;322;p20"/>
          <p:cNvSpPr txBox="1"/>
          <p:nvPr>
            <p:ph idx="1" type="body"/>
          </p:nvPr>
        </p:nvSpPr>
        <p:spPr>
          <a:xfrm>
            <a:off x="619000" y="1567450"/>
            <a:ext cx="8115900" cy="33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Frontend (Interfaz):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Librería de JavaScript para construir interfaces de usuario dinámicas y modulares.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Tailwind CSS: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Framework de estilos "utility-first" que permite un diseño rápido, consistente y totalmente adaptativo.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 (Servidor):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Node.js con Express: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Entorno de ejecución y framework ligero para crear la API REST. Destaca por su manejo eficiente de múltiples conexiones simultáneas.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Laravel: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gestionar el servidor web del proyecto.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de Datos: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MongoDB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 de datos N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 orientada a documentos. Se elige por su flexibilidad para guardar datos heterogéneos (perfiles, mensajes de chat, metadatos de archivos) sin un esquema rígido inicial.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de Desarrollo: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Git/GitHub: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el control de versiones y trabajo colaborativo del equipo.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Postman: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el testeo de los endpoints de la API, junto con Laravel.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Entidad-Relación</a:t>
            </a:r>
            <a:endParaRPr/>
          </a:p>
        </p:txBody>
      </p:sp>
      <p:pic>
        <p:nvPicPr>
          <p:cNvPr id="328" name="Google Shape;3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900" y="1597875"/>
            <a:ext cx="7633875" cy="305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1319325" y="652975"/>
            <a:ext cx="70305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Casos de uso y diagrama de clases</a:t>
            </a:r>
            <a:endParaRPr/>
          </a:p>
        </p:txBody>
      </p:sp>
      <p:pic>
        <p:nvPicPr>
          <p:cNvPr id="334" name="Google Shape;3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725" y="1390850"/>
            <a:ext cx="3778600" cy="344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2"/>
          <p:cNvPicPr preferRelativeResize="0"/>
          <p:nvPr/>
        </p:nvPicPr>
        <p:blipFill rotWithShape="1">
          <a:blip r:embed="rId5">
            <a:alphaModFix/>
          </a:blip>
          <a:srcRect b="26788" l="20100" r="12291" t="5291"/>
          <a:stretch/>
        </p:blipFill>
        <p:spPr>
          <a:xfrm>
            <a:off x="5150075" y="1371963"/>
            <a:ext cx="2453073" cy="348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Responsabilidades</a:t>
            </a:r>
            <a:endParaRPr/>
          </a:p>
        </p:txBody>
      </p:sp>
      <p:pic>
        <p:nvPicPr>
          <p:cNvPr id="341" name="Google Shape;341;p23" title="Organigram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75" y="1597875"/>
            <a:ext cx="6609874" cy="270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Riesgos</a:t>
            </a:r>
            <a:endParaRPr/>
          </a:p>
        </p:txBody>
      </p:sp>
      <p:graphicFrame>
        <p:nvGraphicFramePr>
          <p:cNvPr id="347" name="Google Shape;347;p24"/>
          <p:cNvGraphicFramePr/>
          <p:nvPr/>
        </p:nvGraphicFramePr>
        <p:xfrm>
          <a:off x="1303800" y="159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{6D3A97C0-271D-42F4-919C-1A951A789AC3}</a:tableStyleId>
              </a:tblPr>
              <a:tblGrid>
                <a:gridCol w="1645050"/>
                <a:gridCol w="1645050"/>
                <a:gridCol w="1645050"/>
                <a:gridCol w="1645050"/>
              </a:tblGrid>
              <a:tr h="412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RIESGO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PROBABILIDAD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IMPACTO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/>
                        <a:t>CIR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12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Falta de Masa Crítica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</a:t>
                      </a:r>
                      <a:endParaRPr sz="12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52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Copyright y Seguridad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12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69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Brecha de Seguridad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412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Colapso de </a:t>
                      </a:r>
                      <a:r>
                        <a:rPr lang="es" sz="1200"/>
                        <a:t>Escalabilidad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2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Hoja de estilos</a:t>
            </a:r>
            <a:endParaRPr/>
          </a:p>
        </p:txBody>
      </p:sp>
      <p:sp>
        <p:nvSpPr>
          <p:cNvPr id="353" name="Google Shape;353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4"/>
              </a:rPr>
              <a:t>https://www.figma.com/design/BgBlLfaQDJJ8dPuRxUGrbm/Prototipo?m=auto&amp;t=VpCDResnZ9eT3ssy-6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